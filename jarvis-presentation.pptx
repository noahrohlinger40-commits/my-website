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11.jpg"/><Relationship Id="rId6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16.jpg"/><Relationship Id="rId6" Type="http://schemas.openxmlformats.org/officeDocument/2006/relationships/image" Target="../media/image20.jpg"/><Relationship Id="rId7" Type="http://schemas.openxmlformats.org/officeDocument/2006/relationships/image" Target="../media/image2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112233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solidFill>
            <a:srgbClr val="4FE3F0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8732520" y="1417320"/>
            <a:ext cx="2743200" cy="2743200"/>
          </a:xfrm>
          <a:prstGeom prst="ellipse">
            <a:avLst/>
          </a:prstGeom>
          <a:noFill/>
          <a:ln cap="flat" cmpd="sng" w="15875">
            <a:solidFill>
              <a:srgbClr val="4FE3F0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9098280" y="17830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FFB627">
                <a:alpha val="65098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9646920" y="2331720"/>
            <a:ext cx="914400" cy="914400"/>
          </a:xfrm>
          <a:prstGeom prst="ellipse">
            <a:avLst/>
          </a:prstGeom>
          <a:solidFill>
            <a:srgbClr val="14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robot_cyan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792" y="2450592"/>
            <a:ext cx="676656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E3F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FE3F0"/>
                </a:solidFill>
                <a:latin typeface="Calibri"/>
                <a:ea typeface="Calibri"/>
                <a:cs typeface="Calibri"/>
                <a:sym typeface="Calibri"/>
              </a:rPr>
              <a:t>SELF-HOSTED · LOCAL-FIRST · WINDOWS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94360" y="178308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Bookman Old Style"/>
              <a:buNone/>
            </a:pPr>
            <a:r>
              <a:rPr b="1" lang="en-US" sz="8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JARVIS</a:t>
            </a:r>
            <a:endParaRPr sz="8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640080" y="32004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A Local AI Voice Assistant, Built From Scratch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0080" y="59893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640080" y="62453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Noah Rohlinger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2148840" y="602132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2130306" y="62453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C# / .NET 8 · LM Studio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System Architecture &amp; the Visual Workbench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920240"/>
            <a:ext cx="5394960" cy="1691640"/>
          </a:xfrm>
          <a:prstGeom prst="roundRect">
            <a:avLst>
              <a:gd fmla="val 4865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04672" y="2139696"/>
            <a:ext cx="530352" cy="530352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layer_cyan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618" y="2208642"/>
            <a:ext cx="392460" cy="39246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1508760" y="212140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Bookman Old Style"/>
              <a:buNone/>
            </a:pPr>
            <a:r>
              <a:rPr b="1"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Jarvis.Core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508760" y="2487168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Class library — AI planning engine, tool dispatch, safety, and the memory system. The reasoning brain, with no UI attached.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4"/>
          <p:cNvCxnSpPr/>
          <p:nvPr/>
        </p:nvCxnSpPr>
        <p:spPr>
          <a:xfrm>
            <a:off x="3246120" y="361188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4FE3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 rot="10800000">
            <a:off x="3163824" y="3758184"/>
            <a:ext cx="164592" cy="146304"/>
          </a:xfrm>
          <a:prstGeom prst="triangle">
            <a:avLst>
              <a:gd fmla="val 50000" name="adj"/>
            </a:avLst>
          </a:prstGeom>
          <a:solidFill>
            <a:srgbClr val="4FE3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3904488"/>
            <a:ext cx="5394960" cy="1691640"/>
          </a:xfrm>
          <a:prstGeom prst="roundRect">
            <a:avLst>
              <a:gd fmla="val 4865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04672" y="4123944"/>
            <a:ext cx="530352" cy="530352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desktop_gold.png" id="40" name="Google Shape;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618" y="4192890"/>
            <a:ext cx="392460" cy="39246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/>
          <p:nvPr/>
        </p:nvSpPr>
        <p:spPr>
          <a:xfrm>
            <a:off x="1508760" y="410565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Bookman Old Style"/>
              <a:buNone/>
            </a:pPr>
            <a:r>
              <a:rPr b="1"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Jarvis.App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508760" y="4471416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The WinForms dashboard — audio waveform, mic controls, wake-word status, and Windows automation hooks. The face Jarvis shows you.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08776" y="1865376"/>
            <a:ext cx="5458968" cy="2980722"/>
          </a:xfrm>
          <a:prstGeom prst="roundRect">
            <a:avLst>
              <a:gd fmla="val 1841" name="adj"/>
            </a:avLst>
          </a:prstGeom>
          <a:solidFill>
            <a:srgbClr val="0D1420"/>
          </a:solidFill>
          <a:ln cap="flat" cmpd="sng" w="15875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mage1.jpeg" id="44" name="Google Shape;4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920240"/>
            <a:ext cx="5349240" cy="287099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 txBox="1"/>
          <p:nvPr/>
        </p:nvSpPr>
        <p:spPr>
          <a:xfrm>
            <a:off x="6263640" y="4955826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Jarvis.App — the live operations surface: conversation feed, waveform, and status header cycling Listening → Thinking → Acting → Speaking.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Voice Processing &amp; Phonetic Routing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2514600"/>
            <a:ext cx="5486400" cy="3017520"/>
          </a:xfrm>
          <a:prstGeom prst="roundRect">
            <a:avLst>
              <a:gd fmla="val 2727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2514600"/>
            <a:ext cx="54864" cy="30175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24141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warning_red.png" id="57" name="Google Shape;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" y="28026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/>
          <p:nvPr/>
        </p:nvSpPr>
        <p:spPr>
          <a:xfrm>
            <a:off x="1463040" y="2743200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Problem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1463040" y="3108960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Misheard words fail silently when matched against process names — “Spotify” becomes “spotted five,” and Jarvis can't find an app by that name.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868680" y="397764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5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1025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check_green.png" id="62" name="Google Shape;6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116" y="421995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 txBox="1"/>
          <p:nvPr/>
        </p:nvSpPr>
        <p:spPr>
          <a:xfrm>
            <a:off x="1463040" y="4160520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Fix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1463040" y="452628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1200">
                <a:solidFill>
                  <a:srgbClr val="FFB627"/>
                </a:solidFill>
                <a:latin typeface="Consolas"/>
                <a:ea typeface="Consolas"/>
                <a:cs typeface="Consolas"/>
                <a:sym typeface="Consolas"/>
              </a:rPr>
              <a:t>applicationAliases</a:t>
            </a: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 map in </a:t>
            </a:r>
            <a:r>
              <a:rPr lang="en-US" sz="1200">
                <a:solidFill>
                  <a:srgbClr val="FFB627"/>
                </a:solidFill>
                <a:latin typeface="Consolas"/>
                <a:ea typeface="Consolas"/>
                <a:cs typeface="Consolas"/>
                <a:sym typeface="Consolas"/>
              </a:rPr>
              <a:t>jarvis.settings.json</a:t>
            </a: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 routes known mishears — “spotted five,” “spotty,” “slots” — straight to Spotify.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208776" y="1911096"/>
            <a:ext cx="5458968" cy="1816543"/>
          </a:xfrm>
          <a:prstGeom prst="roundRect">
            <a:avLst>
              <a:gd fmla="val 3020" name="adj"/>
            </a:avLst>
          </a:prstGeom>
          <a:solidFill>
            <a:srgbClr val="0D1420"/>
          </a:solidFill>
          <a:ln cap="flat" cmpd="sng" w="15875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mage9.jpeg" id="66" name="Google Shape;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965960"/>
            <a:ext cx="5349240" cy="170681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/>
          <p:nvPr/>
        </p:nvSpPr>
        <p:spPr>
          <a:xfrm>
            <a:off x="6263640" y="3800791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Voice recognition mishears “Spotify” as “spotted five” — no known app matches, command fails.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208776" y="4093399"/>
            <a:ext cx="5458968" cy="1809008"/>
          </a:xfrm>
          <a:prstGeom prst="roundRect">
            <a:avLst>
              <a:gd fmla="val 3033" name="adj"/>
            </a:avLst>
          </a:prstGeom>
          <a:solidFill>
            <a:srgbClr val="0D1420"/>
          </a:solidFill>
          <a:ln cap="flat" cmpd="sng" w="15875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mage10.jpeg" id="69" name="Google Shape;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3640" y="4148263"/>
            <a:ext cx="5349240" cy="169928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 txBox="1"/>
          <p:nvPr/>
        </p:nvSpPr>
        <p:spPr>
          <a:xfrm>
            <a:off x="6263640" y="5975559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A follow-up mishear (“open app slot”) resolves through the alias table and Spotify opens correctly.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Desktop Automation, Vision &amp; Memory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desktop_cyan.png" id="80" name="Google Shape;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963" y="240304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 txBox="1"/>
          <p:nvPr/>
        </p:nvSpPr>
        <p:spPr>
          <a:xfrm>
            <a:off x="1280160" y="231343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Bookman Old Style"/>
              <a:buNone/>
            </a:pPr>
            <a:r>
              <a:rPr b="1" lang="en-US" sz="14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Launch &amp; Control Apps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1280160" y="2624328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Open, focus, snap, and resize windows by name.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3264408"/>
            <a:ext cx="548640" cy="548640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eye_cyan.png" id="84" name="Google Shape;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63" y="3335731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 txBox="1"/>
          <p:nvPr/>
        </p:nvSpPr>
        <p:spPr>
          <a:xfrm>
            <a:off x="1280160" y="324612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Bookman Old Style"/>
              <a:buNone/>
            </a:pPr>
            <a:r>
              <a:rPr b="1" lang="en-US" sz="14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Screen Vision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1280160" y="3557016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Screenshots piped to a vision model for live description.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database_cyan.png" id="88" name="Google Shape;8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963" y="4268419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 txBox="1"/>
          <p:nvPr/>
        </p:nvSpPr>
        <p:spPr>
          <a:xfrm>
            <a:off x="1280160" y="4178808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Bookman Old Style"/>
              <a:buNone/>
            </a:pPr>
            <a:r>
              <a:rPr b="1" lang="en-US" sz="14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Persistent Memory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1280160" y="4489704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Indexes preferences &amp; activity so nothing resets between sessions.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208776" y="1911096"/>
            <a:ext cx="5458968" cy="3354905"/>
          </a:xfrm>
          <a:prstGeom prst="roundRect">
            <a:avLst>
              <a:gd fmla="val 1635" name="adj"/>
            </a:avLst>
          </a:prstGeom>
          <a:solidFill>
            <a:srgbClr val="0D1420"/>
          </a:solidFill>
          <a:ln cap="flat" cmpd="sng" w="15875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mage11.jpeg" id="92" name="Google Shape;9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3640" y="1965960"/>
            <a:ext cx="5349240" cy="324517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 txBox="1"/>
          <p:nvPr/>
        </p:nvSpPr>
        <p:spPr>
          <a:xfrm>
            <a:off x="6263640" y="5357441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The Memory Workbench — 43 active items spanning episodic records, conversation summaries, and manual notes, each with kind, category, importance, and retention settings.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Local Inference &amp; Remote Connectivity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208776" y="1911096"/>
            <a:ext cx="5458968" cy="2965545"/>
          </a:xfrm>
          <a:prstGeom prst="roundRect">
            <a:avLst>
              <a:gd fmla="val 1850" name="adj"/>
            </a:avLst>
          </a:prstGeom>
          <a:solidFill>
            <a:srgbClr val="0D1420"/>
          </a:solidFill>
          <a:ln cap="flat" cmpd="sng" w="15875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mage12.jpeg"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965960"/>
            <a:ext cx="5349240" cy="285581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 txBox="1"/>
          <p:nvPr/>
        </p:nvSpPr>
        <p:spPr>
          <a:xfrm>
            <a:off x="6263640" y="4968081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LM Studio running alongside Jarvis with the Qwen3 4B Thinking model loaded (2.5 GB GGUF) — local server live at 127.0.0.1:1234.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96825" y="2468880"/>
            <a:ext cx="5486400" cy="1920240"/>
          </a:xfrm>
          <a:prstGeom prst="roundRect">
            <a:avLst>
              <a:gd fmla="val 4286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725425" y="267004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Bookman Old Style"/>
              <a:buNone/>
            </a:pPr>
            <a:r>
              <a:rPr b="1" lang="en-US" sz="14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Remote Access Flow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16865" y="3337560"/>
            <a:ext cx="548640" cy="548640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laptop_gold.png" id="108" name="Google Shape;1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188" y="3408883"/>
            <a:ext cx="405994" cy="4059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7"/>
          <p:cNvCxnSpPr/>
          <p:nvPr/>
        </p:nvCxnSpPr>
        <p:spPr>
          <a:xfrm>
            <a:off x="1456945" y="3611880"/>
            <a:ext cx="1051560" cy="0"/>
          </a:xfrm>
          <a:prstGeom prst="straightConnector1">
            <a:avLst/>
          </a:prstGeom>
          <a:noFill/>
          <a:ln cap="flat" cmpd="sng" w="19050">
            <a:solidFill>
              <a:srgbClr val="FFB62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7"/>
          <p:cNvSpPr/>
          <p:nvPr/>
        </p:nvSpPr>
        <p:spPr>
          <a:xfrm>
            <a:off x="2599945" y="3337560"/>
            <a:ext cx="548640" cy="548640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network_cyan.png" id="111" name="Google Shape;1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71268" y="3408883"/>
            <a:ext cx="405994" cy="4059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7"/>
          <p:cNvCxnSpPr/>
          <p:nvPr/>
        </p:nvCxnSpPr>
        <p:spPr>
          <a:xfrm>
            <a:off x="3240025" y="3611880"/>
            <a:ext cx="1051560" cy="0"/>
          </a:xfrm>
          <a:prstGeom prst="straightConnector1">
            <a:avLst/>
          </a:prstGeom>
          <a:noFill/>
          <a:ln cap="flat" cmpd="sng" w="19050">
            <a:solidFill>
              <a:srgbClr val="4FE3F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3" name="Google Shape;113;p7"/>
          <p:cNvSpPr/>
          <p:nvPr/>
        </p:nvSpPr>
        <p:spPr>
          <a:xfrm>
            <a:off x="4383025" y="3337560"/>
            <a:ext cx="548640" cy="548640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desktop_gold.png" id="114" name="Google Shape;11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54348" y="340888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 txBox="1"/>
          <p:nvPr/>
        </p:nvSpPr>
        <p:spPr>
          <a:xfrm>
            <a:off x="451105" y="395935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secondary laptop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2234185" y="395935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ngrok tunnel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4017265" y="395935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host PC · Jarvis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Development &amp; Environment Setup Friction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fmla="val 2000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822960" y="2212848"/>
            <a:ext cx="502920" cy="502920"/>
          </a:xfrm>
          <a:prstGeom prst="ellipse">
            <a:avLst/>
          </a:prstGeom>
          <a:solidFill>
            <a:srgbClr val="24141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bug_red.png"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340" y="2278228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 txBox="1"/>
          <p:nvPr/>
        </p:nvSpPr>
        <p:spPr>
          <a:xfrm>
            <a:off x="1508760" y="2231136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Went Wrong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822960" y="265176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The project's local .NET 8 bootstrapping script clashed with my globally-installed .NET version — the build resolved against the wrong runtime and threw cryptic assembly errors that pointed to missing assemblies instead of the real version conflict.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8"/>
          <p:cNvCxnSpPr/>
          <p:nvPr/>
        </p:nvCxnSpPr>
        <p:spPr>
          <a:xfrm>
            <a:off x="822960" y="411480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8"/>
          <p:cNvSpPr/>
          <p:nvPr/>
        </p:nvSpPr>
        <p:spPr>
          <a:xfrm>
            <a:off x="822960" y="4279392"/>
            <a:ext cx="502920" cy="502920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wrench_gold.png" id="133" name="Google Shape;1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340" y="4344772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1508760" y="42976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ookman Old Style"/>
              <a:buNone/>
            </a:pPr>
            <a:r>
              <a:rPr b="1"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Fix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822960" y="4718304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Manually scrubbed every dotnet entry from the system PATH and re-ran the build script so it could bootstrap cleanly into its own local tools folder — just to get the project to compile.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208776" y="1911096"/>
            <a:ext cx="5458968" cy="2836715"/>
          </a:xfrm>
          <a:prstGeom prst="roundRect">
            <a:avLst>
              <a:gd fmla="val 1934" name="adj"/>
            </a:avLst>
          </a:prstGeom>
          <a:solidFill>
            <a:srgbClr val="0D1420"/>
          </a:solidFill>
          <a:ln cap="flat" cmpd="sng" w="15875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mage7.jpeg" id="137" name="Google Shape;13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965960"/>
            <a:ext cx="5349240" cy="272698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6263640" y="4820963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The Jarvis.Core C# source — ITranscriptStore and IMemoryStore — the depth of codebase that had to be understood to diagnose the build issue.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263640" y="5259875"/>
            <a:ext cx="5349240" cy="1234440"/>
          </a:xfrm>
          <a:prstGeom prst="roundRect">
            <a:avLst>
              <a:gd fmla="val 6667" name="adj"/>
            </a:avLst>
          </a:prstGeom>
          <a:solidFill>
            <a:srgbClr val="0D1420"/>
          </a:solidFill>
          <a:ln cap="flat" cmpd="sng" w="12700">
            <a:solidFill>
              <a:srgbClr val="1F3A2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6492240" y="5406179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TERMINAL  ·  AFTER THE FIX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6492240" y="5717075"/>
            <a:ext cx="4892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8E8C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A8E8C0"/>
                </a:solidFill>
                <a:latin typeface="Consolas"/>
                <a:ea typeface="Consolas"/>
                <a:cs typeface="Consolas"/>
                <a:sym typeface="Consolas"/>
              </a:rPr>
              <a:t>&gt; Ensuring local .NET SDK...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8E8C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A8E8C0"/>
                </a:solidFill>
                <a:latin typeface="Consolas"/>
                <a:ea typeface="Consolas"/>
                <a:cs typeface="Consolas"/>
                <a:sym typeface="Consolas"/>
              </a:rPr>
              <a:t>.NET SDK 8.0.400 already available at C:\...\Jarvis\tools\dotnet.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8E8C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A8E8C0"/>
                </a:solidFill>
                <a:latin typeface="Consolas"/>
                <a:ea typeface="Consolas"/>
                <a:cs typeface="Consolas"/>
                <a:sym typeface="Consolas"/>
              </a:rPr>
              <a:t>Building Jarvis desktop app...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Bookman Old Style"/>
              <a:buNone/>
            </a:pPr>
            <a:r>
              <a:rPr b="1" lang="en-US" sz="2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Voice Pipeline Nightmares &amp; Calibration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48640" y="2286000"/>
            <a:ext cx="5486400" cy="1600200"/>
          </a:xfrm>
          <a:prstGeom prst="roundRect">
            <a:avLst>
              <a:gd fmla="val 5143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48640" y="2286000"/>
            <a:ext cx="54864" cy="16002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68680" y="2487168"/>
            <a:ext cx="502920" cy="502920"/>
          </a:xfrm>
          <a:prstGeom prst="ellipse">
            <a:avLst/>
          </a:prstGeom>
          <a:solidFill>
            <a:srgbClr val="24141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volume_red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060" y="2552548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1508760" y="2505456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Talking to Itself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1508760" y="2852928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In full-duplex mode, Jarvis picked up its own speaker output through the mic and got stuck in endless loops responding to itself.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48640" y="4023360"/>
            <a:ext cx="5486400" cy="1737360"/>
          </a:xfrm>
          <a:prstGeom prst="roundRect">
            <a:avLst>
              <a:gd fmla="val 4737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40" y="4023360"/>
            <a:ext cx="54864" cy="17373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868680" y="4224528"/>
            <a:ext cx="502920" cy="502920"/>
          </a:xfrm>
          <a:prstGeom prst="ellipse">
            <a:avLst/>
          </a:prstGeom>
          <a:solidFill>
            <a:srgbClr val="1025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mic_green.png" id="159" name="Google Shape;1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060" y="4289908"/>
            <a:ext cx="372161" cy="3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1508760" y="4242816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Bookman Old Style"/>
              <a:buNone/>
            </a:pPr>
            <a:r>
              <a:rPr b="1" lang="en-US" sz="15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Custom Calibration Tool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508760" y="4590288"/>
            <a:ext cx="4343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Built a UI calibration tool that captures an ambient noise baseline before listening begins — measuring ambient, speech, and peak levels to reduce false triggers.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208776" y="1911096"/>
            <a:ext cx="2704109" cy="2566012"/>
          </a:xfrm>
          <a:prstGeom prst="roundRect">
            <a:avLst>
              <a:gd fmla="val 2138" name="adj"/>
            </a:avLst>
          </a:prstGeom>
          <a:solidFill>
            <a:srgbClr val="0D1420"/>
          </a:solidFill>
          <a:ln cap="flat" cmpd="sng" w="15875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mage4.jpeg" id="163" name="Google Shape;16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965960"/>
            <a:ext cx="2594381" cy="245628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8963635" y="1911096"/>
            <a:ext cx="2704109" cy="1224449"/>
          </a:xfrm>
          <a:prstGeom prst="roundRect">
            <a:avLst>
              <a:gd fmla="val 4481" name="adj"/>
            </a:avLst>
          </a:prstGeom>
          <a:solidFill>
            <a:srgbClr val="0D1420"/>
          </a:solidFill>
          <a:ln cap="flat" cmpd="sng" w="15875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mage5.jpeg" id="165" name="Google Shape;16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18498" y="1971379"/>
            <a:ext cx="2594381" cy="111472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6263640" y="4568548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The Microphone Calibration dialog — step one captures room silence, step two records a speech sample.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208776" y="4870300"/>
            <a:ext cx="5458968" cy="1943234"/>
          </a:xfrm>
          <a:prstGeom prst="roundRect">
            <a:avLst>
              <a:gd fmla="val 2823" name="adj"/>
            </a:avLst>
          </a:prstGeom>
          <a:solidFill>
            <a:srgbClr val="0D1420"/>
          </a:solidFill>
          <a:ln cap="flat" cmpd="sng" w="15875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mage6.jpeg" id="168" name="Google Shape;16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3640" y="4925164"/>
            <a:ext cx="5349240" cy="183350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6263640" y="6886686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The conversation feed logging the full calibration sequence — ambient 1.7%, speech 1.0%, peak 13.2%, then saved as the new baseline.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Qwen3 Thinking Model Disaster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48640" y="1965960"/>
            <a:ext cx="5394960" cy="1874520"/>
          </a:xfrm>
          <a:prstGeom prst="roundRect">
            <a:avLst>
              <a:gd fmla="val 4390" name="adj"/>
            </a:avLst>
          </a:prstGeom>
          <a:solidFill>
            <a:srgbClr val="1A1215"/>
          </a:solidFill>
          <a:ln cap="flat" cmpd="sng" w="12700">
            <a:solidFill>
              <a:srgbClr val="3A222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822960" y="21488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5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5C5C"/>
                </a:solidFill>
                <a:latin typeface="Calibri"/>
                <a:ea typeface="Calibri"/>
                <a:cs typeface="Calibri"/>
                <a:sym typeface="Calibri"/>
              </a:rPr>
              <a:t>QWEN3 OUTPUT  ·  BREAKS THE PARSER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822960" y="246888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0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A0A0"/>
                </a:solidFill>
                <a:latin typeface="Consolas"/>
                <a:ea typeface="Consolas"/>
                <a:cs typeface="Consolas"/>
                <a:sym typeface="Consolas"/>
              </a:rPr>
              <a:t>&lt;think&gt;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0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A0A0"/>
                </a:solidFill>
                <a:latin typeface="Consolas"/>
                <a:ea typeface="Consolas"/>
                <a:cs typeface="Consolas"/>
                <a:sym typeface="Consolas"/>
              </a:rPr>
              <a:t>Okay, the user wants me to open Notepad.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0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A0A0"/>
                </a:solidFill>
                <a:latin typeface="Consolas"/>
                <a:ea typeface="Consolas"/>
                <a:cs typeface="Consolas"/>
                <a:sym typeface="Consolas"/>
              </a:rPr>
              <a:t>Let me consider the available tools...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0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A0A0"/>
                </a:solidFill>
                <a:latin typeface="Consolas"/>
                <a:ea typeface="Consolas"/>
                <a:cs typeface="Consolas"/>
                <a:sym typeface="Consolas"/>
              </a:rPr>
              <a:t>Actually, I should first check if...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0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A0A0"/>
                </a:solidFill>
                <a:latin typeface="Consolas"/>
                <a:ea typeface="Consolas"/>
                <a:cs typeface="Consolas"/>
                <a:sym typeface="Consolas"/>
              </a:rPr>
              <a:t>[several more paragraphs of reasoning]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0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A0A0"/>
                </a:solidFill>
                <a:latin typeface="Consolas"/>
                <a:ea typeface="Consolas"/>
                <a:cs typeface="Consolas"/>
                <a:sym typeface="Consolas"/>
              </a:rPr>
              <a:t>&lt;/think&gt;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0A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A0A0"/>
                </a:solidFill>
                <a:latin typeface="Consolas"/>
                <a:ea typeface="Consolas"/>
                <a:cs typeface="Consolas"/>
                <a:sym typeface="Consolas"/>
              </a:rPr>
              <a:t>{"tool": "open_app", "target": "notepad"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10"/>
          <p:cNvCxnSpPr/>
          <p:nvPr/>
        </p:nvCxnSpPr>
        <p:spPr>
          <a:xfrm>
            <a:off x="3246120" y="384048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5A64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10"/>
          <p:cNvSpPr/>
          <p:nvPr/>
        </p:nvSpPr>
        <p:spPr>
          <a:xfrm>
            <a:off x="548640" y="4114800"/>
            <a:ext cx="5394960" cy="1463040"/>
          </a:xfrm>
          <a:prstGeom prst="roundRect">
            <a:avLst>
              <a:gd fmla="val 5625" name="adj"/>
            </a:avLst>
          </a:prstGeom>
          <a:solidFill>
            <a:srgbClr val="121A15"/>
          </a:solidFill>
          <a:ln cap="flat" cmpd="sng" w="12700">
            <a:solidFill>
              <a:srgbClr val="1F3A2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822960" y="42976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WHAT THE PLANNER NEEDS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822960" y="461772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E8C0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E8C0"/>
                </a:solidFill>
                <a:latin typeface="Consolas"/>
                <a:ea typeface="Consolas"/>
                <a:cs typeface="Consolas"/>
                <a:sym typeface="Consolas"/>
              </a:rPr>
              <a:t>{"tool": "open_app", "target": "notepad"}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6263640" y="1965960"/>
            <a:ext cx="5349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Qwen3 is a thinking model</a:t>
            </a:r>
            <a: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 — it generates long blocks of internal reasoning before producing an answer. Jarvis's planner needs strict JSON, and that verbose reasoning consistently broke the parser, stalling execution.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6263640" y="3063240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400"/>
              <a:buFont typeface="Bookman Old Style"/>
              <a:buNone/>
            </a:pPr>
            <a:r>
              <a:rPr b="1" lang="en-US" sz="1400">
                <a:solidFill>
                  <a:srgbClr val="FFB62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Attempts to fix it: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6263640" y="3429000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E3F0"/>
              </a:buClr>
              <a:buSzPts val="1250"/>
              <a:buFont typeface="Consolas"/>
              <a:buNone/>
            </a:pPr>
            <a:r>
              <a:rPr b="1" lang="en-US" sz="1250">
                <a:solidFill>
                  <a:srgbClr val="4FE3F0"/>
                </a:solidFill>
                <a:latin typeface="Consolas"/>
                <a:ea typeface="Consolas"/>
                <a:cs typeface="Consolas"/>
                <a:sym typeface="Consolas"/>
              </a:rPr>
              <a:t>plannerLocalContextLength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6263640" y="3685032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increased repeatedly to give the model more room to think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6263640" y="4087368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E3F0"/>
              </a:buClr>
              <a:buSzPts val="1250"/>
              <a:buFont typeface="Consolas"/>
              <a:buNone/>
            </a:pPr>
            <a:r>
              <a:rPr b="1" lang="en-US" sz="1250">
                <a:solidFill>
                  <a:srgbClr val="4FE3F0"/>
                </a:solidFill>
                <a:latin typeface="Consolas"/>
                <a:ea typeface="Consolas"/>
                <a:cs typeface="Consolas"/>
                <a:sym typeface="Consolas"/>
              </a:rPr>
              <a:t>plannerMaxIterations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6263640" y="43434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reduced to prevent runaway loops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6263640" y="4745736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E3F0"/>
              </a:buClr>
              <a:buSzPts val="1250"/>
              <a:buFont typeface="Consolas"/>
              <a:buNone/>
            </a:pPr>
            <a:r>
              <a:rPr b="1" lang="en-US" sz="1250">
                <a:solidFill>
                  <a:srgbClr val="4FE3F0"/>
                </a:solidFill>
                <a:latin typeface="Consolas"/>
                <a:ea typeface="Consolas"/>
                <a:cs typeface="Consolas"/>
                <a:sym typeface="Consolas"/>
              </a:rPr>
              <a:t>plannerReflectionEnabled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6263640" y="5001768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turned off — reflection on an already-verbose model made things worse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263640" y="5449824"/>
            <a:ext cx="5349240" cy="868680"/>
          </a:xfrm>
          <a:prstGeom prst="roundRect">
            <a:avLst>
              <a:gd fmla="val 9474" name="adj"/>
            </a:avLst>
          </a:prstGeom>
          <a:solidFill>
            <a:srgbClr val="1B2438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6492240" y="5568696"/>
            <a:ext cx="4892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Even after every adjustment, the model could produce a clean response — then fall apart on the very next request with no obvious explanation.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Automation Friction &amp; Mobile Limitations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548640" y="2148840"/>
            <a:ext cx="3611880" cy="2880360"/>
          </a:xfrm>
          <a:prstGeom prst="roundRect">
            <a:avLst>
              <a:gd fmla="val 2857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24141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network_red.png"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227" y="250042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822960" y="320040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Bookman Old Style"/>
              <a:buNone/>
            </a:pPr>
            <a:r>
              <a:rPr b="1" lang="en-US" sz="15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Modern Web Apps Resist Automation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822960" y="393192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Browsers and Electron apps render their own UI, so automated keypresses often land on the wrong element — or nowhere at all.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389120" y="2148840"/>
            <a:ext cx="3611880" cy="2880360"/>
          </a:xfrm>
          <a:prstGeom prst="roundRect">
            <a:avLst>
              <a:gd fmla="val 2857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663440" y="2423160"/>
            <a:ext cx="594360" cy="594360"/>
          </a:xfrm>
          <a:prstGeom prst="ellipse">
            <a:avLst/>
          </a:prstGeom>
          <a:solidFill>
            <a:srgbClr val="2A201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clock_gold.png" id="210" name="Google Shape;2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0707" y="250042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4663440" y="320040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Bookman Old Style"/>
              <a:buNone/>
            </a:pPr>
            <a:r>
              <a:rPr b="1" lang="en-US" sz="15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OCR Was Slow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4663440" y="393192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Screen capture, encode, send-to-vision-model, and describe took 10–20 seconds on my hardware — impractical for anything time-sensitive.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229600" y="2148840"/>
            <a:ext cx="3611880" cy="2880360"/>
          </a:xfrm>
          <a:prstGeom prst="roundRect">
            <a:avLst>
              <a:gd fmla="val 2857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8503920" y="2423160"/>
            <a:ext cx="594360" cy="594360"/>
          </a:xfrm>
          <a:prstGeom prst="ellipse">
            <a:avLst/>
          </a:prstGeom>
          <a:solidFill>
            <a:srgbClr val="24141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mobile_red.png" id="215" name="Google Shape;21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1187" y="250042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 txBox="1"/>
          <p:nvPr/>
        </p:nvSpPr>
        <p:spPr>
          <a:xfrm>
            <a:off x="8503920" y="320040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Bookman Old Style"/>
              <a:buNone/>
            </a:pPr>
            <a:r>
              <a:rPr b="1" lang="en-US" sz="15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Mobile Broke Down Completely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8503920" y="393192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The WinForms UI wasn't built for small screens, and voice capture failed outright since the microphone is locked to the host desktop.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Performance Trade-offs &amp; Benchmarks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All figures below reflect my personal system specs, not a controlled benchmark environment.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965960"/>
            <a:ext cx="5486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2"/>
          <p:cNvSpPr/>
          <p:nvPr/>
        </p:nvSpPr>
        <p:spPr>
          <a:xfrm>
            <a:off x="6309360" y="1965960"/>
            <a:ext cx="5349240" cy="1463040"/>
          </a:xfrm>
          <a:prstGeom prst="roundRect">
            <a:avLst>
              <a:gd fmla="val 5625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6583680" y="212140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E3F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FE3F0"/>
                </a:solidFill>
                <a:latin typeface="Calibri"/>
                <a:ea typeface="Calibri"/>
                <a:cs typeface="Calibri"/>
                <a:sym typeface="Calibri"/>
              </a:rPr>
              <a:t>CLOUD MODE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6583680" y="235915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Bookman Old Style"/>
              <a:buNone/>
            </a:pPr>
            <a:r>
              <a:rPr b="1" lang="en-US" sz="40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&lt; 2 sec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6583680" y="299923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95% accuracy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9052560" y="233172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Fast and accurate — but every command leaves the machine, trading away the core privacy motivation.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309360" y="3611880"/>
            <a:ext cx="5349240" cy="1463040"/>
          </a:xfrm>
          <a:prstGeom prst="roundRect">
            <a:avLst>
              <a:gd fmla="val 5625" name="adj"/>
            </a:avLst>
          </a:prstGeom>
          <a:solidFill>
            <a:srgbClr val="141B2A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6583680" y="3767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62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B627"/>
                </a:solidFill>
                <a:latin typeface="Calibri"/>
                <a:ea typeface="Calibri"/>
                <a:cs typeface="Calibri"/>
                <a:sym typeface="Calibri"/>
              </a:rPr>
              <a:t>FULLY LOCAL MODE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6583680" y="4005072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8–15 sec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6583680" y="464515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100% private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9052560" y="397764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Nothing leaves the PC — but on this hardware, waiting 8–15 seconds per command is a real cost.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6309360" y="5257800"/>
            <a:ext cx="5349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Privacy and speed traded directly against each other on this hardware — a faster local machine would close some, not all, of the gap.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solidFill>
            <a:srgbClr val="112233">
              <a:alpha val="5490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Bookman Old Style"/>
              <a:buNone/>
            </a:pPr>
            <a:r>
              <a:rPr b="1" lang="en-US" sz="32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Retrospective &amp; Future Roadmap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548640" y="21214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E3F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FE3F0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puzzle_cyan.png" id="250" name="Google Shape;2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944" y="2512040"/>
            <a:ext cx="297729" cy="29772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 txBox="1"/>
          <p:nvPr/>
        </p:nvSpPr>
        <p:spPr>
          <a:xfrm>
            <a:off x="1115568" y="24323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Bookman Old Style"/>
              <a:buNone/>
            </a:pPr>
            <a:r>
              <a:rPr b="1" lang="en-US" sz="12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Thinking-Model Prompt Parser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1115568" y="2697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A dedicated parser/template so Qwen3-style reasoning no longer breaks the planner.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48640" y="3191256"/>
            <a:ext cx="402336" cy="402336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home_cyan.png" id="254" name="Google Shape;2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944" y="3243560"/>
            <a:ext cx="297729" cy="29772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 txBox="1"/>
          <p:nvPr/>
        </p:nvSpPr>
        <p:spPr>
          <a:xfrm>
            <a:off x="1115568" y="316382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Bookman Old Style"/>
              <a:buNone/>
            </a:pPr>
            <a:r>
              <a:rPr b="1" lang="en-US" sz="12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Home Assistant Integration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1115568" y="34290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Close the smart-home gap — lights, thermostats, and plugs, Alexa's killer feature.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48640" y="3922776"/>
            <a:ext cx="402336" cy="402336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ear_cyan.png" id="258" name="Google Shape;2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944" y="3975080"/>
            <a:ext cx="297729" cy="29772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 txBox="1"/>
          <p:nvPr/>
        </p:nvSpPr>
        <p:spPr>
          <a:xfrm>
            <a:off x="1115568" y="389534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Bookman Old Style"/>
              <a:buNone/>
            </a:pPr>
            <a:r>
              <a:rPr b="1" lang="en-US" sz="12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Hardware Wake-Word Engine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1115568" y="41605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Porcupine or OpenWakeWord for always-on listening without a CPU-hungry recognizer.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1B2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cog_cyan.png" id="262" name="Google Shape;26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944" y="4706600"/>
            <a:ext cx="297729" cy="29772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3"/>
          <p:cNvSpPr txBox="1"/>
          <p:nvPr/>
        </p:nvSpPr>
        <p:spPr>
          <a:xfrm>
            <a:off x="1115568" y="46268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Bookman Old Style"/>
              <a:buNone/>
            </a:pPr>
            <a:r>
              <a:rPr b="1" lang="en-US" sz="125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Setup Wizard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1115568" y="4892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A real installer so a non-technical friend doesn't need hand-holding through the settings file.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6263640" y="1481328"/>
            <a:ext cx="5349240" cy="4937760"/>
          </a:xfrm>
          <a:prstGeom prst="roundRect">
            <a:avLst>
              <a:gd fmla="val 1667" name="adj"/>
            </a:avLst>
          </a:prstGeom>
          <a:solidFill>
            <a:srgbClr val="1B2438"/>
          </a:solidFill>
          <a:ln cap="flat" cmpd="sng" w="12700">
            <a:solidFill>
              <a:srgbClr val="2631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583680" y="1755648"/>
            <a:ext cx="640080" cy="640080"/>
          </a:xfrm>
          <a:prstGeom prst="ellipse">
            <a:avLst/>
          </a:prstGeom>
          <a:solidFill>
            <a:srgbClr val="14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icons/lightbulb_gold.png" id="267" name="Google Shape;26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6890" y="1838858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 txBox="1"/>
          <p:nvPr/>
        </p:nvSpPr>
        <p:spPr>
          <a:xfrm>
            <a:off x="7406640" y="178308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Bookman Old Style"/>
              <a:buNone/>
            </a:pPr>
            <a:r>
              <a:rPr b="1" lang="en-US" sz="19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Real Takeaway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6583680" y="2395728"/>
            <a:ext cx="4709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7A2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This project went better than expected. Within a few hours of setup, Jarvis was listening for a wake word, automating the desktop, searching the web, and holding a persistent memory across sessions — capability that would've taken months from scratch a few years ago.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3"/>
          <p:cNvCxnSpPr/>
          <p:nvPr/>
        </p:nvCxnSpPr>
        <p:spPr>
          <a:xfrm>
            <a:off x="6583680" y="3858768"/>
            <a:ext cx="4709160" cy="0"/>
          </a:xfrm>
          <a:prstGeom prst="straightConnector1">
            <a:avLst/>
          </a:prstGeom>
          <a:noFill/>
          <a:ln cap="flat" cmpd="sng" w="12700">
            <a:solidFill>
              <a:srgbClr val="2C3A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3"/>
          <p:cNvSpPr txBox="1"/>
          <p:nvPr/>
        </p:nvSpPr>
        <p:spPr>
          <a:xfrm>
            <a:off x="6583680" y="4041648"/>
            <a:ext cx="470916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Confirmed: </a:t>
            </a:r>
            <a: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privacy, offline capability, and customization all held up — and customization exceeded expectations.</a:t>
            </a:r>
            <a:b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rgbClr val="FF5C5C"/>
                </a:solidFill>
                <a:latin typeface="Calibri"/>
                <a:ea typeface="Calibri"/>
                <a:cs typeface="Calibri"/>
                <a:sym typeface="Calibri"/>
              </a:rPr>
              <a:t>Not fully resolved: </a:t>
            </a:r>
            <a:r>
              <a:rPr lang="en-US" sz="1300">
                <a:solidFill>
                  <a:srgbClr val="97A2B8"/>
                </a:solidFill>
                <a:latin typeface="Calibri"/>
                <a:ea typeface="Calibri"/>
                <a:cs typeface="Calibri"/>
                <a:sym typeface="Calibri"/>
              </a:rPr>
              <a:t>the Qwen3 thinking-model compatibility problem remains the single biggest open issue in the project.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JARVIS // LOCAL AI ASSISTANT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